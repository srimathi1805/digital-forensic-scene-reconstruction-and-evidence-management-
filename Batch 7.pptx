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3" r:id="rId18"/>
  </p:sldIdLst>
  <p:sldSz cx="12192000" cy="68580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282954-5174-4F31-A0F9-3197DDE5C557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author/484652685646650" TargetMode="External"/><Relationship Id="rId13" Type="http://schemas.openxmlformats.org/officeDocument/2006/relationships/hyperlink" Target="https://ieeexplore.ieee.org/author/37085421939" TargetMode="External"/><Relationship Id="rId18" Type="http://schemas.openxmlformats.org/officeDocument/2006/relationships/hyperlink" Target="https://ieeexplore.ieee.org/author/37088365966" TargetMode="External"/><Relationship Id="rId3" Type="http://schemas.openxmlformats.org/officeDocument/2006/relationships/hyperlink" Target="https://ieeexplore.ieee.org/author/37089511866" TargetMode="External"/><Relationship Id="rId7" Type="http://schemas.openxmlformats.org/officeDocument/2006/relationships/hyperlink" Target="https://ieeexplore.ieee.org/author/37089795603" TargetMode="External"/><Relationship Id="rId12" Type="http://schemas.openxmlformats.org/officeDocument/2006/relationships/hyperlink" Target="https://ieeexplore.ieee.org/author/37088220870" TargetMode="External"/><Relationship Id="rId17" Type="http://schemas.openxmlformats.org/officeDocument/2006/relationships/hyperlink" Target="https://ieeexplore.ieee.org/author/37089859579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ieeexplore.ieee.org/author/37089639525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author/37089784376" TargetMode="External"/><Relationship Id="rId11" Type="http://schemas.openxmlformats.org/officeDocument/2006/relationships/hyperlink" Target="https://ieeexplore.ieee.org/author/37089315049" TargetMode="External"/><Relationship Id="rId5" Type="http://schemas.openxmlformats.org/officeDocument/2006/relationships/hyperlink" Target="https://ieeexplore.ieee.org/author/37073220900" TargetMode="External"/><Relationship Id="rId15" Type="http://schemas.openxmlformats.org/officeDocument/2006/relationships/hyperlink" Target="https://ieeexplore.ieee.org/author/37085588200" TargetMode="External"/><Relationship Id="rId10" Type="http://schemas.openxmlformats.org/officeDocument/2006/relationships/hyperlink" Target="https://ieeexplore.ieee.org/author/37086503023" TargetMode="External"/><Relationship Id="rId19" Type="http://schemas.openxmlformats.org/officeDocument/2006/relationships/hyperlink" Target="https://ieeexplore.ieee.org/author/37085790935" TargetMode="External"/><Relationship Id="rId4" Type="http://schemas.openxmlformats.org/officeDocument/2006/relationships/hyperlink" Target="https://ieeexplore.ieee.org/author/37086290854" TargetMode="External"/><Relationship Id="rId9" Type="http://schemas.openxmlformats.org/officeDocument/2006/relationships/hyperlink" Target="https://ieeexplore.ieee.org/author/734530575592246" TargetMode="External"/><Relationship Id="rId14" Type="http://schemas.openxmlformats.org/officeDocument/2006/relationships/hyperlink" Target="https://ieeexplore.ieee.org/author/3708709582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DEPARTMENT OF  COMPUTER SCIENCE AND ENGINEERING</a:t>
            </a: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20CS8504  &amp; PROJECT WORK</a:t>
            </a:r>
            <a:endParaRPr b="1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END SEMESTER PRACTICAL EXAMINATION - APRIL/MAY - 2026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Batch No.: 7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Date: 30-03-2026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Session: FN</a:t>
            </a:r>
            <a:endParaRPr b="1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/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-1" y="145233"/>
            <a:ext cx="12115801" cy="2402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DIGITAL FORENSIC SCENE RECONSTRUCTION AND EVIDENCE MANAGEMENT USING IMAGE-BASED 3D RECONSTRUCTION AND COMPUTER VISION</a:t>
            </a: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</a:t>
            </a:fld>
            <a:endParaRPr b="1">
              <a:solidFill>
                <a:schemeClr val="dk1"/>
              </a:solidFill>
              <a:latin typeface="Arial Narrow" panose="020B0606020202030204" pitchFamily="34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24044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Mrs.S.Gayathri,M.E</a:t>
            </a: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.,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Assistant Professor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Department of CSE</a:t>
            </a: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833419" y="3631450"/>
            <a:ext cx="5165914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Saraswathy P L (811722104135)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Shanmuga Shree M (811722104142)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Sharly</a:t>
            </a: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Pricilla A (811722104143)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Srimathi K (811722104154)</a:t>
            </a:r>
            <a:endParaRPr b="1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140549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4000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OBJECTIVE OF THE PROJECT</a:t>
            </a:r>
            <a:endParaRPr sz="4000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762000" y="1174640"/>
            <a:ext cx="10515600" cy="490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 To capture and manage digital forensic evidence using image data</a:t>
            </a:r>
            <a:endParaRPr sz="32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reconstruct crime scenes in 3D using image-based computer vision techniques.</a:t>
            </a:r>
            <a:endParaRPr sz="32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 To enable 360-degree interactive visualization of reconstructed scenes.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securely store and organize forensic evidence and 3D models.</a:t>
            </a:r>
          </a:p>
          <a:p>
            <a:pPr mar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reduce cost and time compared to traditional forensic reconstruction methods.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endParaRPr sz="32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3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206477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4000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INTRODUCTION</a:t>
            </a:r>
            <a:endParaRPr sz="4000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10515600" cy="550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Digital forensic scene reconstruction plays a crucial role in modern crime investigation and legal analysis.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Accurate documentation of crime scenes is essential to preserve evidence integrity and support judicial proceedings.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Image-based 3D reconstruction uses computer vision techniques to digitally recreate crime scenes from captured images.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Interactive 360-degree visualization helps investigators analyze spatial relationships more accurately.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Integrating evidence management with 3D reconstruction improves forensic efficiency, accuracy, and accessibility.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4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888888"/>
              </a:solidFill>
              <a:latin typeface="Arial Narrow" panose="020B0606020202030204" pitchFamily="34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5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LITERATURE SURVEY</a:t>
            </a:r>
            <a:endParaRPr sz="3200" b="0" i="0" u="none" strike="noStrike" cap="none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174643736"/>
              </p:ext>
            </p:extLst>
          </p:nvPr>
        </p:nvGraphicFramePr>
        <p:xfrm>
          <a:off x="103262" y="584735"/>
          <a:ext cx="11985475" cy="5963226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17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TITLE OF PAPER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AUTHORS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PAPER GIST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TECHNOLOGY USED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3D Forensic Crime Scene Reconstruction Involving Immersive Technology: A Systematic Literature Review (IEEE 2022)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b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3"/>
                        </a:rPr>
                      </a:b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3"/>
                        </a:rPr>
                        <a:t>Mfundo A. Maneli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4"/>
                        </a:rPr>
                        <a:t> </a:t>
                      </a:r>
                      <a:b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4"/>
                        </a:rPr>
                      </a:b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4"/>
                        </a:rPr>
                        <a:t>Omowunmi E.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4"/>
                        </a:rPr>
                        <a:t>Isafiade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3D Crime Scene Reconstruction</a:t>
                      </a:r>
                      <a:b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Virtual Reality (VR)</a:t>
                      </a:r>
                      <a:b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Photogrammetry</a:t>
                      </a: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Image-based 3D reconstruction,</a:t>
                      </a:r>
                    </a:p>
                    <a:p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Photogrammetry,SfM,VR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visualization,Point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cloud processing.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  <a:defRPr/>
                      </a:pP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Crime Scene Reconstruction Using 3D Convolutional Neural Networks 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IEEE,2024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5"/>
                        </a:rPr>
                        <a:t>Ramy Riad Hussein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6"/>
                        </a:rPr>
                        <a:t> Aman Sharma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7"/>
                        </a:rPr>
                        <a:t> P. B. Edwin Prabhakar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8"/>
                        </a:rPr>
                        <a:t> E. Krishnaveni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9"/>
                        </a:rPr>
                        <a:t> K Monica Sowmya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0"/>
                        </a:rPr>
                        <a:t> M. Ravikiran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3D-CNN</a:t>
                      </a:r>
                      <a:b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Crime Scene Reconstruction</a:t>
                      </a:r>
                      <a:b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Deep Learning for Forensics</a:t>
                      </a: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3D-CNN,Deep learning-based feature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extraction,Multi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-view image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processing,Tensor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-based spatial modeling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  <a:defRPr/>
                      </a:pP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3DFIRES: Few Image 3D Reconstruction for Scenes with Hidden Surfaces 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IEEE,2024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1"/>
                        </a:rPr>
                        <a:t>Linyi Jin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2"/>
                        </a:rPr>
                        <a:t> Nilesh Kulkarni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3"/>
                        </a:rPr>
                        <a:t>David F. </a:t>
                      </a:r>
                      <a:r>
                        <a:rPr lang="en-IN" sz="16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3"/>
                        </a:rPr>
                        <a:t>Fouhey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Few-Image 3D Reconstruction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Hidden Surface Modeling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Scene Reconstruction Algorithms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Stereo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vision,Depth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estimation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algorithms,Feature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matching,</a:t>
                      </a:r>
                    </a:p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Sparse point cloud reconstruction,</a:t>
                      </a:r>
                    </a:p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Multi-view geometry.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  <a:defRPr/>
                      </a:pP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Stereo-Photogrammetry Method for 3-D    Reconstruction 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IEEE,2019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4"/>
                        </a:rPr>
                        <a:t>Phuong Ngoc Binh Do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</a:p>
                    <a:p>
                      <a:pPr algn="ctr"/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5"/>
                        </a:rPr>
                        <a:t>Quoc Chi Nguyen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Stereo Photogrammetry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3D Reconstruction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Depth Estimation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Stereo-photogrammetry, Camera calibration techniques,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Epipolar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geometry, Feature detection and matching, 3D triangulation.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3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  <a:defRPr/>
                      </a:pP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Recon3D: Single Image 3D Reconstruction Using Explicit Priors </a:t>
                      </a: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 panose="020B0606020202030204"/>
                          <a:cs typeface="Times New Roman" panose="02020603050405020304" pitchFamily="18" charset="0"/>
                          <a:sym typeface="Arial Narrow" panose="020B0606020202030204"/>
                        </a:rPr>
                        <a:t>IEEE,2024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endParaRPr lang="en-US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6"/>
                        </a:rPr>
                        <a:t>Ruiyang Chen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7"/>
                        </a:rPr>
                        <a:t> Mohan Yin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8"/>
                        </a:rPr>
                        <a:t>Jiawei Shen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</a:rPr>
                        <a:t>,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/>
                          <a:cs typeface="Times New Roman" panose="02020603050405020304" pitchFamily="18" charset="0"/>
                          <a:sym typeface="Arial" panose="020B0604020202020204"/>
                          <a:hlinkClick r:id="rId19"/>
                        </a:rPr>
                        <a:t> Wei Ma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 panose="020B0604020202020204"/>
                        <a:buNone/>
                      </a:pP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Single Image 3D Reconstruction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Explicit Priors</a:t>
                      </a:r>
                      <a:b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• Scene Geometry Estimation</a:t>
                      </a:r>
                      <a:endParaRPr lang="en-IN"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 panose="020B0606020202030204"/>
                        <a:cs typeface="Times New Roman" panose="02020603050405020304" pitchFamily="18" charset="0"/>
                        <a:sym typeface="Arial Narrow" panose="020B06060202020302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Single-image 3D reconstruction,</a:t>
                      </a:r>
                    </a:p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Deep neural 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networks,Depth</a:t>
                      </a:r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estimation, Geometry priors,</a:t>
                      </a:r>
                    </a:p>
                    <a:p>
                      <a:r>
                        <a:rPr lang="en-US" sz="16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Image-to-3D mapping.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2" y="203822"/>
            <a:ext cx="12345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EXISTING SYSTEM</a:t>
            </a:r>
            <a:endParaRPr sz="3600" b="1" i="0" u="none" strike="noStrike" cap="none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5" name="AutoShape 8" descr="Crime Scene ForensiKit: Evidence Packaging : Amazon.in: Office Products"/>
          <p:cNvSpPr>
            <a:spLocks noChangeAspect="1" noChangeArrowheads="1"/>
          </p:cNvSpPr>
          <p:nvPr/>
        </p:nvSpPr>
        <p:spPr bwMode="auto">
          <a:xfrm>
            <a:off x="9023154" y="-681932"/>
            <a:ext cx="106863" cy="7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2" name="Picture 1" descr="Exist"/>
          <p:cNvPicPr>
            <a:picLocks noChangeAspect="1"/>
          </p:cNvPicPr>
          <p:nvPr/>
        </p:nvPicPr>
        <p:blipFill>
          <a:blip r:embed="rId3"/>
          <a:srcRect t="10950"/>
          <a:stretch>
            <a:fillRect/>
          </a:stretch>
        </p:blipFill>
        <p:spPr>
          <a:xfrm>
            <a:off x="1568450" y="1043940"/>
            <a:ext cx="8895080" cy="5506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 smtClean="0">
                <a:solidFill>
                  <a:schemeClr val="tx1"/>
                </a:solidFill>
                <a:latin typeface="Arial Narrow" panose="020B0606020202030204" pitchFamily="34" charset="0"/>
              </a:rPr>
              <a:t>7</a:t>
            </a:fld>
            <a:endParaRPr lang="en-US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Google Shape;127;p6"/>
          <p:cNvSpPr txBox="1"/>
          <p:nvPr/>
        </p:nvSpPr>
        <p:spPr>
          <a:xfrm>
            <a:off x="-1" y="248920"/>
            <a:ext cx="1174568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 panose="020B0606020202030204"/>
                <a:ea typeface="Arial Narrow" panose="020B0606020202030204"/>
                <a:cs typeface="Arial Narrow" panose="020B0606020202030204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Arial Narrow" panose="020B0606020202030204"/>
              </a:rPr>
              <a:t>PROBLEM IDENTIFICAITON</a:t>
            </a:r>
            <a:endParaRPr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874" y="1181857"/>
            <a:ext cx="8373979" cy="5174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Lack of Spatial Understanding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Incomplete Scene Documentation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Time Consuming Investigation Process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Difficulty in Evidence Visualization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Limited Collaboration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Lack of Interactive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Risk of Data Loss or Damage</a:t>
            </a:r>
            <a:endParaRPr lang="en-IN" sz="3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69893"/>
            <a:ext cx="1219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3600" b="1" i="0" u="none" strike="noStrike" cap="none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PROPOSED SYSTEM </a:t>
            </a:r>
            <a:r>
              <a:rPr lang="en-US" sz="36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ARCHITECTURE</a:t>
            </a:r>
            <a:endParaRPr sz="3600" b="1" i="0" u="none" strike="noStrike" cap="none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DA9E2-0E47-7012-95F8-3A4C44900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17"/>
          <a:stretch>
            <a:fillRect/>
          </a:stretch>
        </p:blipFill>
        <p:spPr>
          <a:xfrm>
            <a:off x="2514601" y="716183"/>
            <a:ext cx="7271656" cy="6150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278781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sz="3600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SOFTWARE AND HARDWARE REQUIREMENTS </a:t>
            </a:r>
            <a:endParaRPr sz="3600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841544" y="158670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HARDWARE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Processor: Intel i5 or higher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RAM: Minimum 8 GB 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Storage: 256 GB SSD or higher</a:t>
            </a: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Camera: High-resolution digital camera / smartphone</a:t>
            </a: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Internet: Stable connection for data transfer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524195" y="1493881"/>
            <a:ext cx="5183100" cy="447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SOFTWARE</a:t>
            </a:r>
            <a:endParaRPr sz="2400" b="1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Internet: Stable connection for data transfer</a:t>
            </a:r>
            <a:endParaRPr sz="24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Frontend: Flutter (Dart)</a:t>
            </a:r>
            <a:endParaRPr sz="24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Backend: Python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IN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Database: SQLite / MySQL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IN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nl-NL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3D Processing: OpenCV, OpenMVG, Open3D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6. 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Visualization: Three.js / Flutter 3D plugins</a:t>
            </a:r>
          </a:p>
          <a:p>
            <a:pPr marL="0" lvl="0" indent="0">
              <a:lnSpc>
                <a:spcPct val="100000"/>
              </a:lnSpc>
              <a:buClr>
                <a:srgbClr val="FF0000"/>
              </a:buClr>
              <a:buSzPts val="2800"/>
              <a:buNone/>
            </a:pPr>
            <a:r>
              <a:rPr lang="en-US" sz="24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7.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Tools: Visual Studio Code</a:t>
            </a:r>
            <a:endParaRPr sz="24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9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326571" y="285134"/>
            <a:ext cx="11462658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Tahoma" panose="020B0604030504040204" pitchFamily="34" charset="0"/>
                <a:cs typeface="Times New Roman" panose="02020603050405020304" pitchFamily="18" charset="0"/>
                <a:sym typeface="Arial Narrow" panose="020B0606020202030204"/>
              </a:rPr>
              <a:t>MODULES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Arial Narrow" panose="020B0606020202030204"/>
                <a:sym typeface="Arial Narrow" panose="020B0606020202030204"/>
              </a:rPr>
              <a:t> </a:t>
            </a:r>
            <a:endParaRPr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Arial Narrow" panose="020B0606020202030204"/>
              <a:sym typeface="Arial Narrow" panose="020B0606020202030204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1153886" y="1454373"/>
            <a:ext cx="908957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Acquisition Module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Evidence Management Module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Backend Processing Module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3D Reconstruction Module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3D Visualization and Interaction Module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10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IMPLEMENTATION OF MODULE-1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707572" y="1233345"/>
            <a:ext cx="10515600" cy="512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>
              <a:lnSpc>
                <a:spcPct val="16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Captures crime scene images in real time using a camera or image selection interface.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just">
              <a:lnSpc>
                <a:spcPct val="16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Ensures images are collected from multiple angles for accurate scene reconstruction.</a:t>
            </a:r>
          </a:p>
          <a:p>
            <a:pPr marL="0" lvl="0" indent="0" algn="just">
              <a:lnSpc>
                <a:spcPct val="160000"/>
              </a:lnSpc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Validates image quality and format before further processing.</a:t>
            </a:r>
          </a:p>
          <a:p>
            <a:pPr marL="0" lvl="0" indent="0" algn="just">
              <a:lnSpc>
                <a:spcPct val="16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Associates captured images with a unique case or evidence ID.</a:t>
            </a:r>
          </a:p>
          <a:p>
            <a:pPr marL="0" indent="0" algn="just">
              <a:lnSpc>
                <a:spcPct val="16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Prepares and forwards image data securely to the backend processing module.</a:t>
            </a:r>
          </a:p>
          <a:p>
            <a:pPr marL="0" lvl="0" indent="0" algn="just">
              <a:lnSpc>
                <a:spcPct val="160000"/>
              </a:lnSpc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11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426029"/>
            <a:ext cx="10515600" cy="503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Stores digital forensic evidence such as images and reconstructed 3D models securely.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Organizes evidence based on case ID, time, and evidence type.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Maintains evidence integrity to prevent unauthorized modification or loss.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Enables retrieval and review of evidence for forensic analysis and investigation.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Supports traceability of evidence throughout the forensic investigation process.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12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IMPLEMENTATION OF MODULE-2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349829"/>
            <a:ext cx="10515600" cy="518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Receives crime scene images uploaded from the image acquisition module.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Validates and stores image data on the server for further processing.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Prepares image datasets required for 3D reconstruction processing.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Coordinates communication between the mobile application and processing modules.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Sends processing status and results back to the application interface.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13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32446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IMPLEMENTATION OF MODULE-3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10515600" cy="508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Processes the collected crime scene images to extract visual features.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Applies image-based reconstruction techniques to estimate spatial structure.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Generates a three-dimensional representation of the crime scene.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Optimizes the reconstructed model for accurate spatial alignment.</a:t>
            </a:r>
          </a:p>
          <a:p>
            <a:pPr marL="0" indent="0">
              <a:lnSpc>
                <a:spcPct val="15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Outputs the 3D model for visualization and further forensic analysis.</a:t>
            </a:r>
          </a:p>
          <a:p>
            <a:pPr marL="0" lvl="0" indent="0">
              <a:lnSpc>
                <a:spcPct val="150000"/>
              </a:lnSpc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14</a:t>
            </a:fld>
            <a:endParaRPr b="1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35722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IMPLEMENTATION OF MODULE-4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838200" y="1552887"/>
            <a:ext cx="9818914" cy="474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Renders the reconstructed 3D crime scene model in an interactive viewer.</a:t>
            </a: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6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Allows users to rotate, zoom, and pan the scene for 360-degree inspection.</a:t>
            </a:r>
          </a:p>
          <a:p>
            <a:pPr marL="0" lvl="0" indent="0">
              <a:lnSpc>
                <a:spcPct val="16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3.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Enables real-time interaction with objects and evidence within the 3D space.</a:t>
            </a:r>
          </a:p>
          <a:p>
            <a:pPr marL="0" lvl="0" indent="0">
              <a:lnSpc>
                <a:spcPct val="16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4.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Supports smooth navigation to analyze spatial relationships and viewpoints.</a:t>
            </a:r>
          </a:p>
          <a:p>
            <a:pPr marL="0" indent="0">
              <a:lnSpc>
                <a:spcPct val="160000"/>
              </a:lnSpc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5.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Enhances forensic understanding through immersive visual exploration.</a:t>
            </a:r>
          </a:p>
          <a:p>
            <a:pPr marL="0" lvl="0" indent="0">
              <a:lnSpc>
                <a:spcPct val="160000"/>
              </a:lnSpc>
              <a:buSzPts val="2800"/>
              <a:buNone/>
            </a:pPr>
            <a:endParaRPr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8610600" y="63028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Arial Narrow" panose="020B0606020202030204" pitchFamily="34" charset="0"/>
              </a:rPr>
              <a:t>15</a:t>
            </a:fld>
            <a:endParaRPr b="1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IMPLEMENTATION OF MODULE-5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-130628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CONCLUSION</a:t>
            </a:r>
            <a:endParaRPr b="1" dirty="0">
              <a:solidFill>
                <a:schemeClr val="tx1"/>
              </a:solidFill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1. 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system improves crime scene analysis by transforming real-time images into an interactive 3D visual environment</a:t>
            </a:r>
            <a:endParaRPr sz="32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>
              <a:lnSpc>
                <a:spcPct val="150000"/>
              </a:lnSpc>
              <a:buSzPts val="2800"/>
              <a:buNone/>
            </a:pPr>
            <a:r>
              <a:rPr lang="en-US" sz="3200" dirty="0">
                <a:latin typeface="Arial Narrow" panose="020B0606020202030204" pitchFamily="34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2. </a:t>
            </a:r>
            <a:r>
              <a:rPr lang="en-US" sz="3200" dirty="0">
                <a:latin typeface="Arial Narrow" panose="020B0606020202030204" pitchFamily="34" charset="0"/>
                <a:cs typeface="Times New Roman" panose="02020603050405020304" pitchFamily="18" charset="0"/>
              </a:rPr>
              <a:t>It enhances evidence accuracy, accessibility, and decision-making through advanced computer vision and 3D visualization.</a:t>
            </a:r>
            <a:endParaRPr sz="3200" dirty="0">
              <a:latin typeface="Arial Narrow" panose="020B0606020202030204" pitchFamily="34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tx1"/>
                </a:solidFill>
                <a:latin typeface="Arial Narrow" panose="020B0606020202030204" pitchFamily="34" charset="0"/>
              </a:rPr>
              <a:t>16</a:t>
            </a:fld>
            <a:endParaRPr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8648616" y="6380928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 smtClean="0">
                <a:solidFill>
                  <a:schemeClr val="tx1"/>
                </a:solidFill>
                <a:latin typeface="Arial Narrow" panose="020B0606020202030204" pitchFamily="34" charset="0"/>
              </a:rPr>
              <a:t>17</a:t>
            </a:fld>
            <a:endParaRPr lang="en-US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Google Shape;194;p16"/>
          <p:cNvSpPr txBox="1"/>
          <p:nvPr/>
        </p:nvSpPr>
        <p:spPr>
          <a:xfrm>
            <a:off x="125100" y="111947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buSzPts val="4400"/>
            </a:pPr>
            <a:r>
              <a:rPr lang="en-US" sz="44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FUTURE ENHANCEMENTS </a:t>
            </a:r>
            <a:endParaRPr lang="en-US" sz="4400" b="1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7982" y="1839800"/>
            <a:ext cx="10866235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Integration with Virtual Reality for immersive crime scene visualization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AI-based automatic evidence detection from images.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Real-time crime scene scanning using mobile devices or drones.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Cloud storage for secure data sharing and collaboration.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Advanced 3D simulation to recreate crime events.</a:t>
            </a:r>
            <a:endParaRPr lang="en-IN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1134</Words>
  <Application>Microsoft Office PowerPoint</Application>
  <PresentationFormat>Widescreen</PresentationFormat>
  <Paragraphs>151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Arial Narrow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Saravanan M</dc:creator>
  <cp:lastModifiedBy>SRIMATHI K</cp:lastModifiedBy>
  <cp:revision>14</cp:revision>
  <cp:lastPrinted>2026-02-11T03:58:00Z</cp:lastPrinted>
  <dcterms:created xsi:type="dcterms:W3CDTF">2026-03-29T15:01:22Z</dcterms:created>
  <dcterms:modified xsi:type="dcterms:W3CDTF">2026-03-29T16:16:54Z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2032D136464045D1814C2CFBE14885D9_12</vt:lpwstr>
  </property>
</Properties>
</file>